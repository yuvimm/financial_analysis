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howGuides="1">
      <p:cViewPr varScale="1">
        <p:scale>
          <a:sx n="78" d="100"/>
          <a:sy n="78" d="100"/>
        </p:scale>
        <p:origin x="878" y="0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3/28/2026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3/28/2026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26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Stock Market Analysis-TCS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Name:- Yashit Mittal</a:t>
            </a:r>
            <a:br>
              <a:rPr lang="en-US" dirty="0"/>
            </a:br>
            <a:r>
              <a:rPr lang="en-US" dirty="0"/>
              <a:t>Course:- Business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050" y="404664"/>
            <a:ext cx="10394986" cy="1728192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Objective:</a:t>
            </a:r>
            <a:br>
              <a:rPr lang="en-US" dirty="0"/>
            </a:br>
            <a:br>
              <a:rPr lang="en-US" dirty="0"/>
            </a:br>
            <a:r>
              <a:rPr lang="en-US" sz="2200" b="0" dirty="0"/>
              <a:t>To analyze the financial performance of TCS over the past 5 years </a:t>
            </a:r>
            <a:br>
              <a:rPr lang="en-US" sz="2200" b="0" dirty="0"/>
            </a:br>
            <a:r>
              <a:rPr lang="en-US" sz="2200" b="0" dirty="0"/>
              <a:t>using key financial metrics and visualization tools.</a:t>
            </a:r>
            <a:br>
              <a:rPr lang="en-US" dirty="0"/>
            </a:b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034" y="2924944"/>
            <a:ext cx="10255746" cy="1935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900" b="1" dirty="0"/>
              <a:t>Goal:</a:t>
            </a:r>
            <a:br>
              <a:rPr lang="en-US" dirty="0"/>
            </a:br>
            <a:endParaRPr lang="en-US" dirty="0"/>
          </a:p>
          <a:p>
            <a:r>
              <a:rPr lang="en-US" sz="2000" dirty="0"/>
              <a:t>To identify growth trends, profitability, and financial stability.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5AE5-BADC-CBE1-BF04-1475B5C2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386" y="304800"/>
            <a:ext cx="4914900" cy="819944"/>
          </a:xfrm>
        </p:spPr>
        <p:txBody>
          <a:bodyPr/>
          <a:lstStyle/>
          <a:p>
            <a:r>
              <a:rPr lang="en-IN" dirty="0"/>
              <a:t>DATA COLLECTION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0035D-4705-4DBA-5D9F-4404590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57A9D-606D-E8E0-6ECA-0C4AD958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386" y="1556792"/>
            <a:ext cx="10558666" cy="4267200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Data Source</a:t>
            </a:r>
            <a:r>
              <a:rPr lang="en-US" sz="3200" dirty="0"/>
              <a:t>:</a:t>
            </a:r>
            <a:br>
              <a:rPr lang="en-US" sz="3300" dirty="0"/>
            </a:br>
            <a:r>
              <a:rPr lang="en-US" dirty="0"/>
              <a:t>• </a:t>
            </a:r>
            <a:r>
              <a:rPr lang="en-US" sz="1900" dirty="0"/>
              <a:t>Moneycontrol</a:t>
            </a:r>
          </a:p>
          <a:p>
            <a:r>
              <a:rPr lang="en-US" sz="3200" b="1" dirty="0"/>
              <a:t>Data Collected:</a:t>
            </a:r>
            <a:br>
              <a:rPr lang="en-US" sz="3200" b="1" dirty="0"/>
            </a:br>
            <a:r>
              <a:rPr lang="en-US" sz="1900" dirty="0"/>
              <a:t>• Revenue</a:t>
            </a:r>
            <a:br>
              <a:rPr lang="en-US" sz="1900" dirty="0"/>
            </a:br>
            <a:r>
              <a:rPr lang="en-US" sz="1900" dirty="0"/>
              <a:t>• Net Profit</a:t>
            </a:r>
            <a:br>
              <a:rPr lang="en-US" sz="1900" dirty="0"/>
            </a:br>
            <a:r>
              <a:rPr lang="en-US" sz="1900" dirty="0"/>
              <a:t>• EBITDA</a:t>
            </a:r>
            <a:br>
              <a:rPr lang="en-US" sz="1900" dirty="0"/>
            </a:br>
            <a:r>
              <a:rPr lang="en-US" sz="1900" dirty="0"/>
              <a:t>• Assets, Equity</a:t>
            </a:r>
            <a:br>
              <a:rPr lang="en-US" sz="1900" dirty="0"/>
            </a:br>
            <a:r>
              <a:rPr lang="en-US" sz="1900" dirty="0"/>
              <a:t>• Current Assets &amp; Liabilities</a:t>
            </a:r>
          </a:p>
          <a:p>
            <a:r>
              <a:rPr lang="en-US" sz="3200" b="1" dirty="0"/>
              <a:t>Time Period:</a:t>
            </a:r>
            <a:br>
              <a:rPr lang="en-US" sz="3200" b="1" dirty="0"/>
            </a:br>
            <a:r>
              <a:rPr lang="en-US" dirty="0"/>
              <a:t>• 2021 –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81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D237-033A-3060-F284-82724AD5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718" y="476672"/>
            <a:ext cx="9409112" cy="1447800"/>
          </a:xfrm>
        </p:spPr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7E54C-B099-6F77-7C2F-18CEF712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476672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875F2-247D-EA5A-285D-AD9D3FB9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295400"/>
            <a:ext cx="10945216" cy="4267200"/>
          </a:xfrm>
        </p:spPr>
        <p:txBody>
          <a:bodyPr/>
          <a:lstStyle/>
          <a:p>
            <a:r>
              <a:rPr lang="en-US" sz="2400" b="1" dirty="0"/>
              <a:t>Data Cleaning Steps:</a:t>
            </a:r>
          </a:p>
          <a:p>
            <a:endParaRPr lang="en-US" dirty="0"/>
          </a:p>
          <a:p>
            <a:r>
              <a:rPr lang="en-US" dirty="0"/>
              <a:t>• Removed commas from numeric values  </a:t>
            </a:r>
          </a:p>
          <a:p>
            <a:r>
              <a:rPr lang="en-US" dirty="0"/>
              <a:t>• Standardized year format  </a:t>
            </a:r>
          </a:p>
          <a:p>
            <a:r>
              <a:rPr lang="en-US" dirty="0"/>
              <a:t>• Removed empty/null values  </a:t>
            </a:r>
          </a:p>
          <a:p>
            <a:r>
              <a:rPr lang="en-US" dirty="0"/>
              <a:t>• Ensured consistent data types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80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C662-7ADD-DB4E-DA7A-DF325D64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265096" cy="1447800"/>
          </a:xfrm>
        </p:spPr>
        <p:txBody>
          <a:bodyPr/>
          <a:lstStyle/>
          <a:p>
            <a:r>
              <a:rPr lang="en-IN" dirty="0"/>
              <a:t>CALCULATIONS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42F374-489E-CC8A-D78E-F5294A57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662F8-5612-E4B9-5A0C-CCBEE9CD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700808"/>
            <a:ext cx="10327754" cy="4267200"/>
          </a:xfrm>
        </p:spPr>
        <p:txBody>
          <a:bodyPr/>
          <a:lstStyle/>
          <a:p>
            <a:r>
              <a:rPr lang="en-US" sz="2400" b="1" dirty="0"/>
              <a:t>Key Metrics Calculated:</a:t>
            </a:r>
          </a:p>
          <a:p>
            <a:endParaRPr lang="en-US" dirty="0"/>
          </a:p>
          <a:p>
            <a:r>
              <a:rPr lang="en-US" dirty="0"/>
              <a:t>• Revenue Growth = (Current - Previous) / Previous  </a:t>
            </a:r>
          </a:p>
          <a:p>
            <a:r>
              <a:rPr lang="en-US" dirty="0"/>
              <a:t>• Profit Margin = Net Profit / Revenue  </a:t>
            </a:r>
          </a:p>
          <a:p>
            <a:r>
              <a:rPr lang="en-US" dirty="0"/>
              <a:t>• ROE = Net Profit / Equity  </a:t>
            </a:r>
          </a:p>
          <a:p>
            <a:r>
              <a:rPr lang="en-US" dirty="0"/>
              <a:t>• Current Ratio = Current Assets / Current Liabilities  </a:t>
            </a:r>
          </a:p>
          <a:p>
            <a:r>
              <a:rPr lang="en-US" dirty="0"/>
              <a:t>• Debt-to-Equity Ratio = Debt / Equity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76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3134-85DA-4F77-55BF-49AD1E58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875184"/>
          </a:xfrm>
        </p:spPr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6CFBE2-7A36-A8F7-11E6-DE8BE8FF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B876AC-D734-187E-2B55-F702897ED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0" r="43315" b="-1"/>
          <a:stretch>
            <a:fillRect/>
          </a:stretch>
        </p:blipFill>
        <p:spPr>
          <a:xfrm>
            <a:off x="1293812" y="1340767"/>
            <a:ext cx="10273208" cy="50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9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8946-3F8F-1079-E6B3-75DBDB13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274" y="476672"/>
            <a:ext cx="9841160" cy="936104"/>
          </a:xfrm>
        </p:spPr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A37CD-52E3-0964-FE5D-6A1670B9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727BD8-9EB7-3562-F8EC-2EC6A3342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321" b="13334"/>
          <a:stretch>
            <a:fillRect/>
          </a:stretch>
        </p:blipFill>
        <p:spPr>
          <a:xfrm>
            <a:off x="1053852" y="1520788"/>
            <a:ext cx="10588306" cy="42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6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B0B0-B560-F624-F104-11806C65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489232" cy="875184"/>
          </a:xfrm>
        </p:spPr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1738F9-5588-98F5-0879-43FDB1C1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AC7DD-47BB-B94B-8440-1F918B137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567" y="1628800"/>
            <a:ext cx="9751690" cy="4267200"/>
          </a:xfrm>
        </p:spPr>
        <p:txBody>
          <a:bodyPr/>
          <a:lstStyle/>
          <a:p>
            <a:r>
              <a:rPr lang="en-US" dirty="0"/>
              <a:t>• Revenue shows steady growth over 5 years  </a:t>
            </a:r>
          </a:p>
          <a:p>
            <a:r>
              <a:rPr lang="en-US" dirty="0"/>
              <a:t>• Profit margins remain stable (~18–19%)  </a:t>
            </a:r>
          </a:p>
          <a:p>
            <a:r>
              <a:rPr lang="en-US" dirty="0"/>
              <a:t>• High ROE indicates efficient use of equity  </a:t>
            </a:r>
          </a:p>
          <a:p>
            <a:r>
              <a:rPr lang="en-US" dirty="0"/>
              <a:t>• Company has zero debt, showing strong financial stability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49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5253-4FDD-CAEB-4952-806FBAA9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49525-66FC-FBB3-7E25-91842698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AA3E9-2957-201F-E879-F9D024ED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551" y="1628800"/>
            <a:ext cx="10039722" cy="4267200"/>
          </a:xfrm>
        </p:spPr>
        <p:txBody>
          <a:bodyPr/>
          <a:lstStyle/>
          <a:p>
            <a:r>
              <a:rPr lang="en-US" dirty="0"/>
              <a:t>TCS demonstrates strong financial performance with consistent growth, </a:t>
            </a:r>
          </a:p>
          <a:p>
            <a:r>
              <a:rPr lang="en-US" dirty="0"/>
              <a:t>stable profitability, and low financial risk. </a:t>
            </a:r>
          </a:p>
          <a:p>
            <a:r>
              <a:rPr lang="en-US" dirty="0"/>
              <a:t>The company is financially healthy and well-positioned for future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46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0B27-9DBA-51C0-A36E-95275B89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DB9C9-31DE-CE4E-2577-D961B25E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AC7CF-0BCB-B586-A88D-DA3550CEA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975" y="1484784"/>
            <a:ext cx="9823698" cy="4267200"/>
          </a:xfrm>
        </p:spPr>
        <p:txBody>
          <a:bodyPr/>
          <a:lstStyle/>
          <a:p>
            <a:r>
              <a:rPr lang="en-IN" dirty="0"/>
              <a:t>Tools &amp; Technologies:</a:t>
            </a:r>
          </a:p>
          <a:p>
            <a:r>
              <a:rPr lang="en-IN" dirty="0"/>
              <a:t>• Microsoft Excel  </a:t>
            </a:r>
          </a:p>
          <a:p>
            <a:r>
              <a:rPr lang="en-IN" dirty="0"/>
              <a:t>• Power BI  </a:t>
            </a:r>
          </a:p>
          <a:p>
            <a:r>
              <a:rPr lang="en-IN" dirty="0"/>
              <a:t>• Data Analysis Techniques </a:t>
            </a:r>
          </a:p>
        </p:txBody>
      </p:sp>
    </p:spTree>
    <p:extLst>
      <p:ext uri="{BB962C8B-B14F-4D97-AF65-F5344CB8AC3E}">
        <p14:creationId xmlns:p14="http://schemas.microsoft.com/office/powerpoint/2010/main" val="83086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9194AD-4091-F406-3347-C124EC36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19B70-8DAC-AD17-4072-960DB9BC6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575" y="1196752"/>
            <a:ext cx="9607674" cy="426720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412361317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35</TotalTime>
  <Words>264</Words>
  <Application>Microsoft Office PowerPoint</Application>
  <PresentationFormat>Custom</PresentationFormat>
  <Paragraphs>53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Palatino Linotype</vt:lpstr>
      <vt:lpstr>Custom</vt:lpstr>
      <vt:lpstr>Stock Market Analysis-TCS</vt:lpstr>
      <vt:lpstr>Objective:  To analyze the financial performance of TCS over the past 5 years  using key financial metrics and visualization tools. </vt:lpstr>
      <vt:lpstr>DATA COLLECTION</vt:lpstr>
      <vt:lpstr>DATA CLEANING</vt:lpstr>
      <vt:lpstr>CALCULATIONS</vt:lpstr>
      <vt:lpstr>VISUALIZATION</vt:lpstr>
      <vt:lpstr>Dashboard Overview</vt:lpstr>
      <vt:lpstr>KEY INSIGHTS</vt:lpstr>
      <vt:lpstr>CONCLUSION</vt:lpstr>
      <vt:lpstr>TOOLS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Yashit Mittal</dc:creator>
  <cp:lastModifiedBy>Yashit Mittal</cp:lastModifiedBy>
  <cp:revision>1</cp:revision>
  <dcterms:created xsi:type="dcterms:W3CDTF">2026-03-28T17:44:37Z</dcterms:created>
  <dcterms:modified xsi:type="dcterms:W3CDTF">2026-03-28T18:20:08Z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